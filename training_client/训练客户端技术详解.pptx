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系统架构概览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DEEBF7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训练客户端</a:t>
            </a:r>
          </a:p>
          <a:p>
            <a:r>
              <a:t>(training_client.py)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2286000" cy="1097280"/>
          </a:xfrm>
          <a:prstGeom prst="roundRect">
            <a:avLst/>
          </a:prstGeom>
          <a:solidFill>
            <a:srgbClr val="E2F0E0"/>
          </a:solidFill>
          <a:ln>
            <a:solidFill>
              <a:srgbClr val="5C9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训练服务器</a:t>
            </a:r>
          </a:p>
          <a:p>
            <a:r>
              <a:t>(model_training.py)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2011680"/>
            <a:ext cx="2743200" cy="274320"/>
          </a:xfrm>
          <a:prstGeom prst="rightArrow">
            <a:avLst/>
          </a:prstGeom>
          <a:solidFill>
            <a:srgbClr val="FF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请求</a:t>
            </a:r>
          </a:p>
        </p:txBody>
      </p:sp>
      <p:sp>
        <p:nvSpPr>
          <p:cNvPr id="6" name="Left Arrow 5"/>
          <p:cNvSpPr/>
          <p:nvPr/>
        </p:nvSpPr>
        <p:spPr>
          <a:xfrm>
            <a:off x="3200400" y="2468880"/>
            <a:ext cx="2743200" cy="274320"/>
          </a:xfrm>
          <a:prstGeom prst="leftArrow">
            <a:avLst/>
          </a:prstGeom>
          <a:solidFill>
            <a:srgbClr val="B4DC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9260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TCP/IP</a:t>
            </a:r>
          </a:p>
          <a:p>
            <a:r>
              <a:t>127.0.0.1:8888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通信协议格式：</a:t>
            </a:r>
          </a:p>
          <a:p>
            <a:pPr>
              <a:defRPr sz="1100">
                <a:latin typeface="Courier New"/>
              </a:defRPr>
            </a:pPr>
            <a:r>
              <a:t>包头 (4 字节 0x55AA55AA) | 长度 (4 字节) | 校验和 (4 字节) | 数据 (N 字节 JSON)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通信协议详解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包头</a:t>
            </a:r>
          </a:p>
          <a:p>
            <a:r>
              <a:t>4 字节</a:t>
            </a:r>
          </a:p>
          <a:p>
            <a:r>
              <a:t>0x55AA55AA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6040" y="1371600"/>
            <a:ext cx="2011680" cy="914400"/>
          </a:xfrm>
          <a:prstGeom prst="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长度</a:t>
            </a:r>
          </a:p>
          <a:p>
            <a:r>
              <a:t>4 字节</a:t>
            </a:r>
          </a:p>
          <a:p>
            <a:r>
              <a:t>数据字节数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371600"/>
            <a:ext cx="2011680" cy="9144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校验和</a:t>
            </a:r>
          </a:p>
          <a:p>
            <a:r>
              <a:t>4 字节</a:t>
            </a:r>
          </a:p>
          <a:p>
            <a:r>
              <a:t>CRC32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371600"/>
            <a:ext cx="2011680" cy="914400"/>
          </a:xfrm>
          <a:prstGeom prst="rect">
            <a:avLst/>
          </a:prstGeom>
          <a:solidFill>
            <a:srgbClr val="FFC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数据</a:t>
            </a:r>
          </a:p>
          <a:p>
            <a:r>
              <a:t>N 字节</a:t>
            </a:r>
          </a:p>
          <a:p>
            <a:r>
              <a:t>JSON 字符串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协议字段说明：</a:t>
            </a:r>
          </a:p>
          <a:p>
            <a:pPr>
              <a:spcBef>
                <a:spcPts val="500"/>
              </a:spcBef>
              <a:defRPr sz="1100"/>
            </a:pPr>
            <a:r>
              <a:t>• 包头 (Header): 固定值 0x55AA55AA，大端序 4 字节无符号整数，标识消息起始</a:t>
            </a:r>
          </a:p>
          <a:p>
            <a:pPr>
              <a:spcBef>
                <a:spcPts val="500"/>
              </a:spcBef>
              <a:defRPr sz="1100"/>
            </a:pPr>
            <a:r>
              <a:t>• 长度 (Length): 后续数据部分的字节数，大端序 4 字节无符号整数</a:t>
            </a:r>
          </a:p>
          <a:p>
            <a:pPr>
              <a:spcBef>
                <a:spcPts val="500"/>
              </a:spcBef>
              <a:defRPr sz="1100"/>
            </a:pPr>
            <a:r>
              <a:t>• 校验和 (Checksum): 数据部分的 CRC32 校验值，验证数据完整性</a:t>
            </a:r>
          </a:p>
          <a:p>
            <a:pPr>
              <a:spcBef>
                <a:spcPts val="500"/>
              </a:spcBef>
              <a:defRPr sz="1100"/>
            </a:pPr>
            <a:r>
              <a:t>• 数据 (Data): UTF-8 编码的 JSON 字符串，包含命令类型、请求 ID、参数等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客户端工作流程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┌──────────────┐     ┌──────────────┐     ┌──────────────┐</a:t>
            </a:r>
          </a:p>
          <a:p>
            <a:r>
              <a:t>│ 1. 创建      │ ──&gt; │ 2. 连接      │ ──&gt; │ 3. 验证      │</a:t>
            </a:r>
          </a:p>
          <a:p>
            <a:r>
              <a:t>│ TrainingClient│     │ connect()    │     │ ping()       │</a:t>
            </a:r>
          </a:p>
          <a:p>
            <a:r>
              <a:t>└──────────────┘     └──────────────┘     └──────────────┘</a:t>
            </a:r>
          </a:p>
          <a:p>
            <a:r>
              <a:t>                                               │</a:t>
            </a:r>
          </a:p>
          <a:p>
            <a:r>
              <a:t>                          ┌────────────────────┘</a:t>
            </a:r>
          </a:p>
          <a:p>
            <a:r>
              <a:t>                          ▼</a:t>
            </a:r>
          </a:p>
          <a:p>
            <a:r>
              <a:t>┌──────────────┐     ┌──────────────┐     ┌──────────────┐</a:t>
            </a:r>
          </a:p>
          <a:p>
            <a:r>
              <a:t>│ 6. 断开      │ &lt;── │ 5. 监控      │ &lt;── │ 4. 创建任务  │</a:t>
            </a:r>
          </a:p>
          <a:p>
            <a:r>
              <a:t>│ disconnect() │     │ get_progress │     │ create_task  │</a:t>
            </a:r>
          </a:p>
          <a:p>
            <a:r>
              <a:t>└──────────────┘     └──────────────┘     └──────────────┘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步骤说明：</a:t>
            </a:r>
          </a:p>
          <a:p>
            <a:pPr>
              <a:spcBef>
                <a:spcPts val="400"/>
              </a:spcBef>
              <a:defRPr sz="1000"/>
            </a:pPr>
            <a:r>
              <a:t>1. 创建：实例化 TrainingClient，指定服务器地址和端口</a:t>
            </a:r>
          </a:p>
          <a:p>
            <a:pPr>
              <a:spcBef>
                <a:spcPts val="400"/>
              </a:spcBef>
              <a:defRPr sz="1000"/>
            </a:pPr>
            <a:r>
              <a:t>2. 连接：调用 connect() 建立 TCP 连接</a:t>
            </a:r>
          </a:p>
          <a:p>
            <a:pPr>
              <a:spcBef>
                <a:spcPts val="400"/>
              </a:spcBef>
              <a:defRPr sz="1000"/>
            </a:pPr>
            <a:r>
              <a:t>3. 验证：调用 ping() 确认服务器响应正常</a:t>
            </a:r>
          </a:p>
          <a:p>
            <a:pPr>
              <a:spcBef>
                <a:spcPts val="400"/>
              </a:spcBef>
              <a:defRPr sz="1000"/>
            </a:pPr>
            <a:r>
              <a:t>4. 创建任务：调用 create_task(params) 配置训练参数</a:t>
            </a:r>
          </a:p>
          <a:p>
            <a:pPr>
              <a:spcBef>
                <a:spcPts val="400"/>
              </a:spcBef>
              <a:defRPr sz="1000"/>
            </a:pPr>
            <a:r>
              <a:t>5. 启动训练并监控：调用 start_training() 和 get_progress()</a:t>
            </a:r>
          </a:p>
          <a:p>
            <a:pPr>
              <a:spcBef>
                <a:spcPts val="400"/>
              </a:spcBef>
              <a:defRPr sz="1000"/>
            </a:pPr>
            <a:r>
              <a:t>6. 断开连接：调用 disconnect() 释放资源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消息协议结构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MessageProtocol 类方法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消息打包代码示例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TrainingClient 核心属性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核心方法（连接类）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核心方法（任务管理）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核心方法（监控类）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完整工作流程图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create_task 参数详解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参数对训练的影响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基础使用示例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监控训练进度示例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错误处理示例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消息传递原理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常见响应码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InteractiveClient 交互式客户端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常见问题解答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