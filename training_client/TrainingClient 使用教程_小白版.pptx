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TrainingClient 使用教程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从零开始，30 分钟上手</a:t>
            </a:r>
          </a:p>
          <a:p>
            <a:r>
              <a:t>AI 模型训练客户端详解</a:t>
            </a:r>
          </a:p>
          <a:p/>
          <a:p>
            <a:r>
              <a:t>2026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这是什么？能做什么？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TrainingClient 是一个 Python 类，用来远程控制 AI 训练服务器</a:t>
            </a:r>
          </a:p>
          <a:p>
            <a:pPr>
              <a:spcAft>
                <a:spcPts val="1000"/>
              </a:spcAft>
              <a:defRPr sz="2000"/>
            </a:pPr>
            <a:r>
              <a:t>想象一下：你有一个'遥控器'🎮</a:t>
            </a:r>
          </a:p>
          <a:p>
            <a:pPr>
              <a:spcAft>
                <a:spcPts val="1000"/>
              </a:spcAft>
              <a:defRPr sz="1600"/>
            </a:pPr>
            <a:r>
              <a:t>  • 告诉它训练什么模型</a:t>
            </a:r>
          </a:p>
          <a:p>
            <a:pPr>
              <a:spcAft>
                <a:spcPts val="1000"/>
              </a:spcAft>
              <a:defRPr sz="1600"/>
            </a:pPr>
            <a:r>
              <a:t>  • 启动/停止训练</a:t>
            </a:r>
          </a:p>
          <a:p>
            <a:pPr>
              <a:spcAft>
                <a:spcPts val="1000"/>
              </a:spcAft>
              <a:defRPr sz="1600"/>
            </a:pPr>
            <a:r>
              <a:t>  • 查看训练进度</a:t>
            </a:r>
          </a:p>
          <a:p>
            <a:pPr>
              <a:spcAft>
                <a:spcPts val="1000"/>
              </a:spcAft>
              <a:defRPr sz="2000"/>
            </a:pPr>
            <a:r>
              <a:t>这个'遥控器'就是 TrainingClient！</a:t>
            </a:r>
          </a:p>
          <a:p>
            <a:pPr>
              <a:spcAft>
                <a:spcPts val="1000"/>
              </a:spcAft>
              <a:defRPr sz="2000"/>
            </a:pPr>
            <a:r>
              <a:t>适用场景：</a:t>
            </a:r>
          </a:p>
          <a:p>
            <a:pPr>
              <a:spcAft>
                <a:spcPts val="1000"/>
              </a:spcAft>
              <a:defRPr sz="1600"/>
            </a:pPr>
            <a:r>
              <a:t>  • 在 Labelme 中标注完图片后，一键训练</a:t>
            </a:r>
          </a:p>
          <a:p>
            <a:pPr>
              <a:spcAft>
                <a:spcPts val="1000"/>
              </a:spcAft>
              <a:defRPr sz="1600"/>
            </a:pPr>
            <a:r>
              <a:t>  • 批量训练多个模型</a:t>
            </a:r>
          </a:p>
          <a:p>
            <a:pPr>
              <a:spcAft>
                <a:spcPts val="1000"/>
              </a:spcAft>
              <a:defRPr sz="1600"/>
            </a:pPr>
            <a:r>
              <a:t>  • 远程监控训练进度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工作原理：其实很简单！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286000" cy="1097280"/>
          </a:xfrm>
          <a:prstGeom prst="roundRect">
            <a:avLst/>
          </a:prstGeom>
          <a:solidFill>
            <a:srgbClr val="DEEBF7"/>
          </a:solidFill>
          <a:ln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你的 Python 代码</a:t>
            </a:r>
          </a:p>
          <a:p>
            <a:r>
              <a:t>(TrainingClient)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828800"/>
            <a:ext cx="2286000" cy="1097280"/>
          </a:xfrm>
          <a:prstGeom prst="roundRect">
            <a:avLst/>
          </a:prstGeom>
          <a:solidFill>
            <a:srgbClr val="E2F0E0"/>
          </a:solidFill>
          <a:ln>
            <a:solidFill>
              <a:srgbClr val="5C944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/>
            </a:pPr>
            <a:r>
              <a:t>训练服务器</a:t>
            </a:r>
          </a:p>
          <a:p>
            <a:r>
              <a:t>(model_training.py)</a:t>
            </a:r>
          </a:p>
        </p:txBody>
      </p:sp>
      <p:sp>
        <p:nvSpPr>
          <p:cNvPr id="5" name="Right Arrow 4"/>
          <p:cNvSpPr/>
          <p:nvPr/>
        </p:nvSpPr>
        <p:spPr>
          <a:xfrm>
            <a:off x="3200400" y="2103120"/>
            <a:ext cx="2743200" cy="228600"/>
          </a:xfrm>
          <a:prstGeom prst="rightArrow">
            <a:avLst/>
          </a:prstGeom>
          <a:solidFill>
            <a:srgbClr val="FFC8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发送命令 (JSON)</a:t>
            </a:r>
          </a:p>
        </p:txBody>
      </p:sp>
      <p:sp>
        <p:nvSpPr>
          <p:cNvPr id="6" name="Left Arrow 5"/>
          <p:cNvSpPr/>
          <p:nvPr/>
        </p:nvSpPr>
        <p:spPr>
          <a:xfrm>
            <a:off x="3200400" y="2468880"/>
            <a:ext cx="2743200" cy="228600"/>
          </a:xfrm>
          <a:prstGeom prst="leftArrow">
            <a:avLst/>
          </a:prstGeom>
          <a:solidFill>
            <a:srgbClr val="B4DC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/>
            </a:pPr>
            <a:r>
              <a:t>返回结果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834640"/>
            <a:ext cx="1463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/>
            </a:pPr>
            <a:r>
              <a:t>TCP/IP 网络</a:t>
            </a:r>
          </a:p>
          <a:p>
            <a:r>
              <a:t>127.0.0.1:8888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通信过程（3 步）：</a:t>
            </a:r>
          </a:p>
          <a:p>
            <a:pPr>
              <a:spcBef>
                <a:spcPts val="600"/>
              </a:spcBef>
              <a:defRPr sz="1400"/>
            </a:pPr>
            <a:r>
              <a:t>1. 你的代码发送 JSON 命令（如'开始训练'）</a:t>
            </a:r>
          </a:p>
          <a:p>
            <a:pPr>
              <a:spcBef>
                <a:spcPts val="600"/>
              </a:spcBef>
              <a:defRPr sz="1400"/>
            </a:pPr>
            <a:r>
              <a:t>2. 服务器执行命令，返回结果</a:t>
            </a:r>
          </a:p>
          <a:p>
            <a:pPr>
              <a:spcBef>
                <a:spcPts val="600"/>
              </a:spcBef>
              <a:defRPr sz="1400"/>
            </a:pPr>
            <a:r>
              <a:t>3. 你的代码解析结果，显示给用户</a:t>
            </a:r>
          </a:p>
          <a:p>
            <a:pPr>
              <a:spcBef>
                <a:spcPts val="600"/>
              </a:spcBef>
              <a:defRPr sz="1400"/>
            </a:pPr>
          </a:p>
          <a:p>
            <a:pPr>
              <a:spcBef>
                <a:spcPts val="600"/>
              </a:spcBef>
              <a:defRPr sz="1400" b="1">
                <a:solidFill>
                  <a:srgbClr val="008000"/>
                </a:solidFill>
              </a:defRPr>
            </a:pPr>
            <a:r>
              <a:t>好消息：这些细节已经封装好了，你只需要调用方法就行！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核心功能一览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TrainingClient 能做什么？（10 个方法）</a:t>
            </a:r>
          </a:p>
          <a:p>
            <a:pPr>
              <a:spcAft>
                <a:spcPts val="800"/>
              </a:spcAft>
              <a:defRPr sz="1600"/>
            </a:pPr>
            <a:r>
              <a:t>连接相关：</a:t>
            </a:r>
          </a:p>
          <a:p>
            <a:pPr>
              <a:spcAft>
                <a:spcPts val="800"/>
              </a:spcAft>
              <a:defRPr sz="1600"/>
            </a:pPr>
            <a:r>
              <a:t>  connect()        - 连接到训练服务器</a:t>
            </a:r>
          </a:p>
          <a:p>
            <a:pPr>
              <a:spcAft>
                <a:spcPts val="800"/>
              </a:spcAft>
              <a:defRPr sz="1600"/>
            </a:pPr>
            <a:r>
              <a:t>  disconnect()     - 断开连接</a:t>
            </a:r>
          </a:p>
          <a:p>
            <a:pPr>
              <a:spcAft>
                <a:spcPts val="800"/>
              </a:spcAft>
              <a:defRPr sz="1600"/>
            </a:pPr>
            <a:r>
              <a:t>  ping()           - 测试连接是否正常</a:t>
            </a:r>
          </a:p>
          <a:p>
            <a:pPr>
              <a:spcAft>
                <a:spcPts val="800"/>
              </a:spcAft>
              <a:defRPr sz="1600"/>
            </a:pPr>
            <a:r>
              <a:t>任务管理：</a:t>
            </a:r>
          </a:p>
          <a:p>
            <a:pPr>
              <a:spcAft>
                <a:spcPts val="800"/>
              </a:spcAft>
              <a:defRPr sz="1600"/>
            </a:pPr>
            <a:r>
              <a:t>  create_task()    - 创建训练任务</a:t>
            </a:r>
          </a:p>
          <a:p>
            <a:pPr>
              <a:spcAft>
                <a:spcPts val="800"/>
              </a:spcAft>
              <a:defRPr sz="1600"/>
            </a:pPr>
            <a:r>
              <a:t>  start_training() - 开始训练</a:t>
            </a:r>
          </a:p>
          <a:p>
            <a:pPr>
              <a:spcAft>
                <a:spcPts val="800"/>
              </a:spcAft>
              <a:defRPr sz="1600"/>
            </a:pPr>
            <a:r>
              <a:t>  stop_training()  - 停止训练</a:t>
            </a:r>
          </a:p>
          <a:p>
            <a:pPr>
              <a:spcAft>
                <a:spcPts val="800"/>
              </a:spcAft>
              <a:defRPr sz="1600"/>
            </a:pPr>
            <a:r>
              <a:t>  list_tasks()     - 查看所有任务</a:t>
            </a:r>
          </a:p>
          <a:p>
            <a:pPr>
              <a:spcAft>
                <a:spcPts val="800"/>
              </a:spcAft>
              <a:defRPr sz="1600"/>
            </a:pPr>
            <a:r>
              <a:t>  delete_task()    - 删除任务</a:t>
            </a:r>
          </a:p>
          <a:p>
            <a:pPr>
              <a:spcAft>
                <a:spcPts val="800"/>
              </a:spcAft>
              <a:defRPr sz="1600"/>
            </a:pPr>
            <a:r>
              <a:t>进度监控：</a:t>
            </a:r>
          </a:p>
          <a:p>
            <a:pPr>
              <a:spcAft>
                <a:spcPts val="800"/>
              </a:spcAft>
              <a:defRPr sz="1600"/>
            </a:pPr>
            <a:r>
              <a:t>  get_progress()   - 获取训练进度</a:t>
            </a:r>
          </a:p>
          <a:p>
            <a:pPr>
              <a:spcAft>
                <a:spcPts val="800"/>
              </a:spcAft>
              <a:defRPr sz="1600"/>
            </a:pPr>
            <a:r>
              <a:t>  monitor_training() - 持续监控（自动刷新）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快速开始：3 步上手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>
                <a:latin typeface="微软雅黑" panose="020B0503020204020204" charset="-122"/>
              </a:defRPr>
            </a:pPr>
            <a:r>
              <a:t>第 1 步：导入并创建客户端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from training_client import TrainingClient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client = TrainingClient()</a:t>
            </a:r>
          </a:p>
          <a:p>
            <a:pPr>
              <a:spcAft>
                <a:spcPts val="800"/>
              </a:spcAft>
              <a:defRPr sz="1600">
                <a:latin typeface="微软雅黑" panose="020B0503020204020204" charset="-122"/>
              </a:defRPr>
            </a:pPr>
            <a:r>
              <a:t>第 2 步：连接服务器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if not client.connect():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    print("连接失败")</a:t>
            </a:r>
          </a:p>
          <a:p>
            <a:pPr>
              <a:spcAft>
                <a:spcPts val="800"/>
              </a:spcAft>
              <a:defRPr sz="1600">
                <a:latin typeface="微软雅黑" panose="020B0503020204020204" charset="-122"/>
              </a:defRPr>
            </a:pPr>
            <a:r>
              <a:t>第 3 步：使用功能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client.ping()  # 测试连接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task_id = client.create_task({...})  # 创建任务</a:t>
            </a:r>
          </a:p>
          <a:p>
            <a:pPr>
              <a:spcAft>
                <a:spcPts val="800"/>
              </a:spcAft>
              <a:defRPr sz="1400">
                <a:latin typeface="Courier New" panose="02070309020205020404"/>
              </a:defRPr>
            </a:pPr>
            <a:r>
              <a:t>  client.start_training(task_id)  # 开始训练</a:t>
            </a:r>
          </a:p>
          <a:p>
            <a:pPr>
              <a:spcAft>
                <a:spcPts val="800"/>
              </a:spcAft>
              <a:defRPr sz="1600">
                <a:latin typeface="微软雅黑" panose="020B0503020204020204" charset="-122"/>
              </a:defRPr>
            </a:pPr>
            <a:r>
              <a:t>就是这么简单！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完整使用示例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4625340" cy="516953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urier New" panose="02070309020205020404"/>
              </a:defRPr>
            </a:pPr>
            <a:r>
              <a:t># 1. 导入</a:t>
            </a:r>
          </a:p>
          <a:p>
            <a:pPr>
              <a:defRPr sz="1100">
                <a:latin typeface="Courier New" panose="02070309020205020404"/>
              </a:defRPr>
            </a:pPr>
            <a:r>
              <a:t>from training_client import TrainingClient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# 2. 创建客户端</a:t>
            </a:r>
          </a:p>
          <a:p>
            <a:pPr>
              <a:defRPr sz="1100">
                <a:latin typeface="Courier New" panose="02070309020205020404"/>
              </a:defRPr>
            </a:pPr>
            <a:r>
              <a:t>client = TrainingClient(host="127.0.0.1", port=8888)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# 3. 连接</a:t>
            </a:r>
          </a:p>
          <a:p>
            <a:pPr>
              <a:defRPr sz="1100">
                <a:latin typeface="Courier New" panose="02070309020205020404"/>
              </a:defRPr>
            </a:pPr>
            <a:r>
              <a:t>if client.connect():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print("连接成功！")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# 4. 测试连接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if client.ping():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print("服务器正常")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# 5. 创建训练任务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params = {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"model_type": "detect",      # 模型类型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"epochs": 50,                 # 训练轮次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"batch_size": 32,             # 批次大小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"learning_rate": 0.001        # 学习率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}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task_id = client.create_task(params)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print(f"任务 ID: {task_id}")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    # 6. 开始训练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client.start_training(task_id)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    # 7. 监控进度（自动刷新）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client.monitor_training(task_id, poll_interval=2)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    # 8. 断开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client.disconnect()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0" y="1188720"/>
            <a:ext cx="25603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代码说明：</a:t>
            </a:r>
          </a:p>
          <a:p>
            <a:pPr>
              <a:spcBef>
                <a:spcPts val="600"/>
              </a:spcBef>
              <a:defRPr sz="1100"/>
            </a:pPr>
            <a:r>
              <a:t>• 创建客户端：指定服务器地址和端口</a:t>
            </a:r>
          </a:p>
          <a:p>
            <a:pPr>
              <a:spcBef>
                <a:spcPts val="600"/>
              </a:spcBef>
              <a:defRPr sz="1100"/>
            </a:pPr>
            <a:r>
              <a:t>• connect()：建立 TCP 连接</a:t>
            </a:r>
          </a:p>
          <a:p>
            <a:pPr>
              <a:spcBef>
                <a:spcPts val="600"/>
              </a:spcBef>
              <a:defRPr sz="1100"/>
            </a:pPr>
            <a:r>
              <a:t>• ping()：发送测试请求</a:t>
            </a:r>
          </a:p>
          <a:p>
            <a:pPr>
              <a:spcBef>
                <a:spcPts val="600"/>
              </a:spcBef>
              <a:defRPr sz="1100"/>
            </a:pPr>
            <a:r>
              <a:t>• create_task()：创建任务，返回 task_id</a:t>
            </a:r>
          </a:p>
          <a:p>
            <a:pPr>
              <a:spcBef>
                <a:spcPts val="600"/>
              </a:spcBef>
              <a:defRPr sz="1100"/>
            </a:pPr>
            <a:r>
              <a:t>• start_training()：开始训练</a:t>
            </a:r>
          </a:p>
          <a:p>
            <a:pPr>
              <a:spcBef>
                <a:spcPts val="600"/>
              </a:spcBef>
              <a:defRPr sz="1100"/>
            </a:pPr>
            <a:r>
              <a:t>• monitor_training()：每 2 秒自动刷新进度</a:t>
            </a:r>
          </a:p>
          <a:p>
            <a:pPr>
              <a:spcBef>
                <a:spcPts val="600"/>
              </a:spcBef>
              <a:defRPr sz="1100"/>
            </a:pPr>
            <a:r>
              <a:t>• disconnect()：释放资源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更简单：使用 InteractiveClient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800"/>
            </a:pPr>
            <a:r>
              <a:t>不想自己写代码？使用交互式客户端！</a:t>
            </a:r>
          </a:p>
          <a:p>
            <a:pPr>
              <a:spcAft>
                <a:spcPts val="800"/>
              </a:spcAft>
              <a:defRPr sz="1800"/>
            </a:pPr>
            <a:r>
              <a:t>一行代码搞定：</a:t>
            </a:r>
          </a:p>
          <a:p>
            <a:pPr>
              <a:spcAft>
                <a:spcPts val="800"/>
              </a:spcAft>
              <a:defRPr sz="1500"/>
            </a:pPr>
            <a:r>
              <a:t>  from training_client import InteractiveClient</a:t>
            </a:r>
          </a:p>
          <a:p>
            <a:pPr>
              <a:spcAft>
                <a:spcPts val="800"/>
              </a:spcAft>
              <a:defRPr sz="1500"/>
            </a:pPr>
            <a:r>
              <a:t>  InteractiveClient().run()</a:t>
            </a:r>
          </a:p>
          <a:p>
            <a:pPr>
              <a:spcAft>
                <a:spcPts val="800"/>
              </a:spcAft>
              <a:defRPr sz="1500"/>
            </a:pPr>
            <a:r>
              <a:t>然后会出现菜单：</a:t>
            </a:r>
          </a:p>
          <a:p>
            <a:pPr>
              <a:spcAft>
                <a:spcPts val="800"/>
              </a:spcAft>
              <a:defRPr sz="1500"/>
            </a:pPr>
            <a:r>
              <a:t>  1. 创建训练任务</a:t>
            </a:r>
          </a:p>
          <a:p>
            <a:pPr>
              <a:spcAft>
                <a:spcPts val="800"/>
              </a:spcAft>
              <a:defRPr sz="1500"/>
            </a:pPr>
            <a:r>
              <a:t>  2. 开始训练</a:t>
            </a:r>
          </a:p>
          <a:p>
            <a:pPr>
              <a:spcAft>
                <a:spcPts val="800"/>
              </a:spcAft>
              <a:defRPr sz="1500"/>
            </a:pPr>
            <a:r>
              <a:t>  3. 监控训练进度</a:t>
            </a:r>
          </a:p>
          <a:p>
            <a:pPr>
              <a:spcAft>
                <a:spcPts val="800"/>
              </a:spcAft>
              <a:defRPr sz="1500"/>
            </a:pPr>
            <a:r>
              <a:t>  4. 停止训练</a:t>
            </a:r>
          </a:p>
          <a:p>
            <a:pPr>
              <a:spcAft>
                <a:spcPts val="800"/>
              </a:spcAft>
              <a:defRPr sz="1500"/>
            </a:pPr>
            <a:r>
              <a:t>  5. 查看任务状态</a:t>
            </a:r>
          </a:p>
          <a:p>
            <a:pPr>
              <a:spcAft>
                <a:spcPts val="800"/>
              </a:spcAft>
              <a:defRPr sz="1500"/>
            </a:pPr>
            <a:r>
              <a:t>  6. 列出所有任务</a:t>
            </a:r>
          </a:p>
          <a:p>
            <a:pPr>
              <a:spcAft>
                <a:spcPts val="800"/>
              </a:spcAft>
              <a:defRPr sz="1500"/>
            </a:pPr>
            <a:r>
              <a:t>  7. 删除任务</a:t>
            </a:r>
          </a:p>
          <a:p>
            <a:pPr>
              <a:spcAft>
                <a:spcPts val="800"/>
              </a:spcAft>
              <a:defRPr sz="1800"/>
            </a:pPr>
            <a:r>
              <a:t>命令行运行：python training_client.py --interactive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create_task 参数详解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04672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822960"/>
                <a:gridCol w="1097280"/>
                <a:gridCol w="4846320"/>
              </a:tblGrid>
              <a:tr h="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参数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类型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默认值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说明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model_type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detect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模型类型：detect/segment/classify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image_size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640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输入图像尺寸（像素）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str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训练数据集路径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epochs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训练轮次数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batch_size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每批次样本数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learning_rate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学习率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trainset_ratio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float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0.9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/>
                      </a:pPr>
                      <a:r>
                        <a:t>训练集占比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参数对训练的影响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epochs（训练轮次）:</a:t>
            </a:r>
          </a:p>
          <a:p>
            <a:pPr>
              <a:spcAft>
                <a:spcPts val="800"/>
              </a:spcAft>
              <a:defRPr sz="1400"/>
            </a:pPr>
            <a:r>
              <a:t>  • 太少：模型可能未充分学习（欠拟合）</a:t>
            </a:r>
          </a:p>
          <a:p>
            <a:pPr>
              <a:spcAft>
                <a:spcPts val="800"/>
              </a:spcAft>
              <a:defRPr sz="1400"/>
            </a:pPr>
            <a:r>
              <a:t>  • 太多：可能过拟合，训练时间增长</a:t>
            </a:r>
          </a:p>
          <a:p>
            <a:pPr>
              <a:spcAft>
                <a:spcPts val="800"/>
              </a:spcAft>
              <a:defRPr sz="1400"/>
            </a:pPr>
            <a:r>
              <a:t>  • 建议：根据数据集大小调整，一般 30-100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600"/>
            </a:pPr>
            <a:r>
              <a:t>batch_size（批次大小）:</a:t>
            </a:r>
          </a:p>
          <a:p>
            <a:pPr>
              <a:spcAft>
                <a:spcPts val="800"/>
              </a:spcAft>
              <a:defRPr sz="1400"/>
            </a:pPr>
            <a:r>
              <a:t>  • 太小：训练不稳定，但内存占用少</a:t>
            </a:r>
          </a:p>
          <a:p>
            <a:pPr>
              <a:spcAft>
                <a:spcPts val="800"/>
              </a:spcAft>
              <a:defRPr sz="1400"/>
            </a:pPr>
            <a:r>
              <a:t>  • 太大：内存需求高，收敛速度可能变慢</a:t>
            </a:r>
          </a:p>
          <a:p>
            <a:pPr>
              <a:spcAft>
                <a:spcPts val="800"/>
              </a:spcAft>
              <a:defRPr sz="1400"/>
            </a:pPr>
            <a:r>
              <a:t>  • 建议：16/32/64，根据 GPU 显存调整</a:t>
            </a:r>
          </a:p>
          <a:p>
            <a:pPr>
              <a:spcAft>
                <a:spcPts val="800"/>
              </a:spcAft>
              <a:defRPr sz="1400"/>
            </a:pPr>
          </a:p>
          <a:p>
            <a:pPr>
              <a:spcAft>
                <a:spcPts val="800"/>
              </a:spcAft>
              <a:defRPr sz="1600"/>
            </a:pPr>
            <a:r>
              <a:t>learning_rate（学习率）:</a:t>
            </a:r>
          </a:p>
          <a:p>
            <a:pPr>
              <a:spcAft>
                <a:spcPts val="800"/>
              </a:spcAft>
              <a:defRPr sz="1400"/>
            </a:pPr>
            <a:r>
              <a:t>  • 太小：收敛速度慢</a:t>
            </a:r>
          </a:p>
          <a:p>
            <a:pPr>
              <a:spcAft>
                <a:spcPts val="800"/>
              </a:spcAft>
              <a:defRPr sz="1400"/>
            </a:pPr>
            <a:r>
              <a:t>  • 太大：可能不收敛或震荡</a:t>
            </a:r>
          </a:p>
          <a:p>
            <a:pPr>
              <a:spcAft>
                <a:spcPts val="800"/>
              </a:spcAft>
              <a:defRPr sz="1400"/>
            </a:pPr>
            <a:r>
              <a:t>  • 建议：0.001-0.01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如何监控训练进度？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latin typeface="Courier New" panose="02070309020205020404"/>
              </a:defRPr>
            </a:pPr>
            <a:r>
              <a:t># 方法 1：自动监控（推荐新手）</a:t>
            </a:r>
          </a:p>
          <a:p>
            <a:pPr>
              <a:defRPr sz="1200">
                <a:latin typeface="Courier New" panose="02070309020205020404"/>
              </a:defRPr>
            </a:pPr>
            <a:r>
              <a:t>client.monitor_training(task_id, poll_interval=2)</a:t>
            </a:r>
          </a:p>
          <a:p>
            <a:pPr>
              <a:defRPr sz="1200">
                <a:latin typeface="Courier New" panose="02070309020205020404"/>
              </a:defRPr>
            </a:pPr>
            <a:r>
              <a:t># 每 2 秒自动刷新一次，显示轮次、损失、准确率</a:t>
            </a:r>
          </a:p>
          <a:p>
            <a:pPr>
              <a:defRPr sz="1200">
                <a:latin typeface="Courier New" panose="02070309020205020404"/>
              </a:defRPr>
            </a:pPr>
          </a:p>
          <a:p>
            <a:pPr>
              <a:defRPr sz="1200">
                <a:latin typeface="Courier New" panose="02070309020205020404"/>
              </a:defRPr>
            </a:pPr>
            <a:r>
              <a:t># 方法 2：手动获取</a:t>
            </a:r>
          </a:p>
          <a:p>
            <a:pPr>
              <a:defRPr sz="1200">
                <a:latin typeface="Courier New" panose="02070309020205020404"/>
              </a:defRPr>
            </a:pPr>
            <a:r>
              <a:t>status = client.get_task_status(task_id)</a:t>
            </a:r>
          </a:p>
          <a:p>
            <a:pPr>
              <a:defRPr sz="1200">
                <a:latin typeface="Courier New" panose="02070309020205020404"/>
              </a:defRPr>
            </a:pPr>
            <a:r>
              <a:t>print(f"状态：{status['status']}")</a:t>
            </a:r>
          </a:p>
          <a:p>
            <a:pPr>
              <a:defRPr sz="1200">
                <a:latin typeface="Courier New" panose="02070309020205020404"/>
              </a:defRPr>
            </a:pPr>
            <a:r>
              <a:t>print(f"进度：{status['progress']*100:.1f}%")</a:t>
            </a:r>
          </a:p>
          <a:p>
            <a:pPr>
              <a:defRPr sz="1200">
                <a:latin typeface="Courier New" panose="02070309020205020404"/>
              </a:defRPr>
            </a:pPr>
          </a:p>
          <a:p>
            <a:pPr>
              <a:defRPr sz="1200">
                <a:latin typeface="Courier New" panose="02070309020205020404"/>
              </a:defRPr>
            </a:pPr>
            <a:r>
              <a:t># 方法 3：长轮询（节省资源）</a:t>
            </a:r>
          </a:p>
          <a:p>
            <a:pPr>
              <a:defRPr sz="1200">
                <a:latin typeface="Courier New" panose="02070309020205020404"/>
              </a:defRPr>
            </a:pPr>
            <a:r>
              <a:t>progress = client.long_poll_progress(task_id, timeout=30)</a:t>
            </a:r>
          </a:p>
          <a:p>
            <a:pPr>
              <a:defRPr sz="1200">
                <a:latin typeface="Courier New" panose="02070309020205020404"/>
              </a:defRPr>
            </a:pPr>
            <a:r>
              <a:t># 服务器有更新时才返回，不用频繁查询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监控时会看到这样的输出：</a:t>
            </a:r>
          </a:p>
          <a:p>
            <a:pPr>
              <a:defRPr sz="1000">
                <a:latin typeface="Courier New" panose="02070309020205020404"/>
              </a:defRPr>
            </a:pPr>
            <a:br/>
            <a:r>
              <a:t>[14:30:25] 轮次 1/50 | 损失：0.5234 | 准确率：0.7123</a:t>
            </a:r>
            <a:br/>
            <a:r>
              <a:t>[14:30:45] 轮次 2/50 | 损失：0.4521 | 准确率：0.7856</a:t>
            </a:r>
            <a:br/>
            <a:r>
              <a:t>[14:31:05] 轮次 3/50 | 损失：0.3892 | 准确率：0.8234</a:t>
            </a:r>
            <a:br/>
            <a:r>
              <a:t>...</a:t>
            </a:r>
            <a:br/>
            <a:r>
              <a:t>[16:45:30] 轮次 50/50 | 损失：0.0823 | 准确率：0.9654</a:t>
            </a:r>
            <a:br/>
            <a:r>
              <a:t>训练完成！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错误处理（很重要！）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9436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urier New" panose="02070309020205020404"/>
              </a:defRPr>
            </a:pPr>
            <a:r>
              <a:t># 连接失败处理</a:t>
            </a:r>
          </a:p>
          <a:p>
            <a:pPr>
              <a:defRPr sz="1100">
                <a:latin typeface="Courier New" panose="02070309020205020404"/>
              </a:defRPr>
            </a:pPr>
            <a:r>
              <a:t>client = TrainingClient()</a:t>
            </a:r>
          </a:p>
          <a:p>
            <a:pPr>
              <a:defRPr sz="1100">
                <a:latin typeface="Courier New" panose="02070309020205020404"/>
              </a:defRPr>
            </a:pPr>
            <a:r>
              <a:t>if not client.connect():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print("连接失败，请检查服务器是否运行")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return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# 命令失败处理</a:t>
            </a:r>
          </a:p>
          <a:p>
            <a:pPr>
              <a:defRPr sz="1100">
                <a:latin typeface="Courier New" panose="02070309020205020404"/>
              </a:defRPr>
            </a:pPr>
            <a:r>
              <a:t>task_id = client.create_task(params)</a:t>
            </a:r>
          </a:p>
          <a:p>
            <a:pPr>
              <a:defRPr sz="1100">
                <a:latin typeface="Courier New" panose="02070309020205020404"/>
              </a:defRPr>
            </a:pPr>
            <a:r>
              <a:t>if task_id is None: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print("创建任务失败，检查参数")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return</a:t>
            </a:r>
          </a:p>
          <a:p>
            <a:pPr>
              <a:defRPr sz="1100">
                <a:latin typeface="Courier New" panose="02070309020205020404"/>
              </a:defRPr>
            </a:pPr>
          </a:p>
          <a:p>
            <a:pPr>
              <a:defRPr sz="1100">
                <a:latin typeface="Courier New" panose="02070309020205020404"/>
              </a:defRPr>
            </a:pPr>
            <a:r>
              <a:t># 完整示例（带异常处理）</a:t>
            </a:r>
          </a:p>
          <a:p>
            <a:pPr>
              <a:defRPr sz="1100">
                <a:latin typeface="Courier New" panose="02070309020205020404"/>
              </a:defRPr>
            </a:pPr>
            <a:r>
              <a:t>try: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client = TrainingClient()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if not client.connect():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return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task_id = client.create_task(params)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if not task_id: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    return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client.start_training(task_id)</a:t>
            </a:r>
          </a:p>
          <a:p>
            <a:pPr>
              <a:defRPr sz="1100">
                <a:latin typeface="Courier New" panose="02070309020205020404"/>
              </a:defRPr>
            </a:pPr>
            <a:r>
              <a:t>except Exception as e: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print(f"出错了：{e}")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finally: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client.disconnect()  # 确保断开连接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0" y="1188720"/>
            <a:ext cx="22860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/>
            </a:pPr>
            <a:r>
              <a:t>重要提示：</a:t>
            </a:r>
          </a:p>
          <a:p>
            <a:pPr>
              <a:spcBef>
                <a:spcPts val="800"/>
              </a:spcBef>
              <a:defRPr sz="1200"/>
            </a:pPr>
            <a:r>
              <a:t>1. 始终检查返回值</a:t>
            </a:r>
          </a:p>
          <a:p>
            <a:pPr>
              <a:spcBef>
                <a:spcPts val="800"/>
              </a:spcBef>
              <a:defRPr sz="1200"/>
            </a:pPr>
            <a:r>
              <a:t>2. 使用 try-except 捕获异常</a:t>
            </a:r>
          </a:p>
          <a:p>
            <a:pPr>
              <a:spcBef>
                <a:spcPts val="800"/>
              </a:spcBef>
              <a:defRPr sz="1200"/>
            </a:pPr>
            <a:r>
              <a:t>3. 在 finally 中调用 disconnect()</a:t>
            </a:r>
          </a:p>
          <a:p>
            <a:pPr>
              <a:spcBef>
                <a:spcPts val="800"/>
              </a:spcBef>
              <a:defRPr sz="1200"/>
            </a:pPr>
            <a:r>
              <a:t>4. 连接失败先检查服务器</a:t>
            </a:r>
          </a:p>
          <a:p>
            <a:pPr>
              <a:spcBef>
                <a:spcPts val="800"/>
              </a:spcBef>
              <a:defRPr sz="1200"/>
            </a:pPr>
            <a:r>
              <a:t>5. 任务失败查看错误信息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响应码说明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2286000"/>
                <a:gridCol w="4572000"/>
              </a:tblGrid>
              <a:tr h="152400"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响应码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含义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怎么办</a:t>
                      </a:r>
                    </a:p>
                  </a:txBody>
                  <a:tcPr>
                    <a:solidFill>
                      <a:srgbClr val="4472C4"/>
                    </a:solidFill>
                  </a:tcPr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成功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继续执行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部分成功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检查返回数据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参数错误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检查输入参数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404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任务不存在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确认 task_id</a:t>
                      </a:r>
                    </a:p>
                  </a:txBody>
                  <a:tcPr/>
                </a:tc>
              </a:tr>
              <a:tr h="15240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服务器错误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查看服务器日志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347472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latin typeface="Courier New" panose="02070309020205020404"/>
              </a:defRPr>
            </a:pPr>
            <a:r>
              <a:t># 如何判断是否成功：</a:t>
            </a:r>
          </a:p>
          <a:p>
            <a:pPr>
              <a:defRPr sz="1100">
                <a:latin typeface="Courier New" panose="02070309020205020404"/>
              </a:defRPr>
            </a:pPr>
            <a:r>
              <a:t>response = client.send_request("create_task", {"params": params})</a:t>
            </a:r>
          </a:p>
          <a:p>
            <a:pPr>
              <a:defRPr sz="1100">
                <a:latin typeface="Courier New" panose="02070309020205020404"/>
              </a:defRPr>
            </a:pPr>
            <a:r>
              <a:t>if response.get("code") == 100: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print("操作成功")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task_id = response.get("data", {}).get("task_id")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else: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error_msg = response.get("message", "未知错误")</a:t>
            </a:r>
          </a:p>
          <a:p>
            <a:pPr>
              <a:defRPr sz="1100">
                <a:latin typeface="Courier New" panose="02070309020205020404"/>
              </a:defRPr>
            </a:pPr>
            <a:r>
              <a:t>    print(f"失败：{error_msg}")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实战应用场景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  <a:defRPr sz="1400">
                <a:latin typeface="微软雅黑" panose="020B0503020204020204" charset="-122"/>
              </a:defRPr>
            </a:pPr>
            <a:r>
              <a:t>场景 1：在 Labelme 中标注后一键训练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# 标注完成后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client = TrainingClient()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client.connect()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task_id = client.create_task({"epochs": 50})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client.start_training(task_id)</a:t>
            </a:r>
          </a:p>
          <a:p>
            <a:pPr>
              <a:spcAft>
                <a:spcPts val="600"/>
              </a:spcAft>
              <a:defRPr sz="1400">
                <a:latin typeface="微软雅黑" panose="020B0503020204020204" charset="-122"/>
              </a:defRPr>
            </a:pPr>
            <a:r>
              <a:t>场景 2：批量训练多个模型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for model_type in ['detect', 'segment']: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    task_id = client.create_task({"model_type": model_type})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    client.start_training(task_id)</a:t>
            </a:r>
          </a:p>
          <a:p>
            <a:pPr>
              <a:spcAft>
                <a:spcPts val="600"/>
              </a:spcAft>
              <a:defRPr sz="1400">
                <a:latin typeface="微软雅黑" panose="020B0503020204020204" charset="-122"/>
              </a:defRPr>
            </a:pPr>
            <a:r>
              <a:t>场景 3：自动化测试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assert client.ping() == True</a:t>
            </a:r>
          </a:p>
          <a:p>
            <a:pPr>
              <a:spcAft>
                <a:spcPts val="600"/>
              </a:spcAft>
              <a:defRPr sz="1400">
                <a:latin typeface="Courier New" panose="02070309020205020404"/>
              </a:defRPr>
            </a:pPr>
            <a:r>
              <a:t>  assert task_id is not None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调试技巧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800"/>
              </a:spcAft>
              <a:defRPr sz="1600"/>
            </a:pPr>
            <a:r>
              <a:t>1. 确保服务器在运行</a:t>
            </a:r>
          </a:p>
          <a:p>
            <a:pPr>
              <a:spcAft>
                <a:spcPts val="800"/>
              </a:spcAft>
              <a:defRPr sz="1400"/>
            </a:pPr>
            <a:r>
              <a:t>   命令行运行：python model_training.py</a:t>
            </a:r>
          </a:p>
          <a:p>
            <a:pPr>
              <a:spcAft>
                <a:spcPts val="800"/>
              </a:spcAft>
              <a:defRPr sz="1600"/>
            </a:pPr>
            <a:r>
              <a:t>2. 先用 ping() 测试连接</a:t>
            </a:r>
          </a:p>
          <a:p>
            <a:pPr>
              <a:spcAft>
                <a:spcPts val="800"/>
              </a:spcAft>
              <a:defRPr sz="1400"/>
            </a:pPr>
            <a:r>
              <a:t>   if not client.ping():</a:t>
            </a:r>
          </a:p>
          <a:p>
            <a:pPr>
              <a:spcAft>
                <a:spcPts val="800"/>
              </a:spcAft>
              <a:defRPr sz="1400"/>
            </a:pPr>
            <a:r>
              <a:t>       print("服务器无响应")</a:t>
            </a:r>
          </a:p>
          <a:p>
            <a:pPr>
              <a:spcAft>
                <a:spcPts val="800"/>
              </a:spcAft>
              <a:defRPr sz="1600"/>
            </a:pPr>
            <a:r>
              <a:t>3. 查看控制台日志</a:t>
            </a:r>
          </a:p>
          <a:p>
            <a:pPr>
              <a:spcAft>
                <a:spcPts val="800"/>
              </a:spcAft>
              <a:defRPr sz="1400"/>
            </a:pPr>
            <a:r>
              <a:t>   代码会打印详细的连接和执行信息</a:t>
            </a:r>
          </a:p>
          <a:p>
            <a:pPr>
              <a:spcAft>
                <a:spcPts val="800"/>
              </a:spcAft>
              <a:defRPr sz="1600"/>
            </a:pPr>
            <a:r>
              <a:t>4. 使用 InteractiveClient 测试</a:t>
            </a:r>
          </a:p>
          <a:p>
            <a:pPr>
              <a:spcAft>
                <a:spcPts val="800"/>
              </a:spcAft>
              <a:defRPr sz="1400"/>
            </a:pPr>
            <a:r>
              <a:t>   交互式界面更容易观察问题</a:t>
            </a:r>
          </a:p>
          <a:p>
            <a:pPr>
              <a:spcAft>
                <a:spcPts val="800"/>
              </a:spcAft>
              <a:defRPr sz="1600"/>
            </a:pPr>
            <a:r>
              <a:t>5. 检查端口是否被占用</a:t>
            </a:r>
          </a:p>
          <a:p>
            <a:pPr>
              <a:spcAft>
                <a:spcPts val="800"/>
              </a:spcAft>
              <a:defRPr sz="1400"/>
            </a:pPr>
            <a:r>
              <a:t>   Windows: netstat -ano | findstr 8888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14. 常见问题 FAQ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1800"/>
            </a:pPr>
            <a:r>
              <a:t>Q: 连接失败怎么办？</a:t>
            </a:r>
          </a:p>
          <a:p>
            <a:pPr>
              <a:spcAft>
                <a:spcPts val="1000"/>
              </a:spcAft>
              <a:defRPr sz="1500"/>
            </a:pPr>
            <a:r>
              <a:t>A: 检查服务器是否运行，端口 8888 是否被占用</a:t>
            </a:r>
          </a:p>
          <a:p>
            <a:pPr>
              <a:spcAft>
                <a:spcPts val="1000"/>
              </a:spcAft>
              <a:defRPr sz="1800"/>
            </a:pPr>
            <a:r>
              <a:t>Q: 任务创建失败？</a:t>
            </a:r>
          </a:p>
          <a:p>
            <a:pPr>
              <a:spcAft>
                <a:spcPts val="1000"/>
              </a:spcAft>
              <a:defRPr sz="1500"/>
            </a:pPr>
            <a:r>
              <a:t>A: 检查 params 参数是否正确，数据集路径是否存在</a:t>
            </a:r>
          </a:p>
          <a:p>
            <a:pPr>
              <a:spcAft>
                <a:spcPts val="1000"/>
              </a:spcAft>
              <a:defRPr sz="1800"/>
            </a:pPr>
            <a:r>
              <a:t>Q: 训练进度一直是 0%？</a:t>
            </a:r>
          </a:p>
          <a:p>
            <a:pPr>
              <a:spcAft>
                <a:spcPts val="1000"/>
              </a:spcAft>
              <a:defRPr sz="1500"/>
            </a:pPr>
            <a:r>
              <a:t>A: 确认调用了 start_training()，等待几秒再查询</a:t>
            </a:r>
          </a:p>
          <a:p>
            <a:pPr>
              <a:spcAft>
                <a:spcPts val="1000"/>
              </a:spcAft>
              <a:defRPr sz="1800"/>
            </a:pPr>
            <a:r>
              <a:t>Q: 如何停止训练？</a:t>
            </a:r>
          </a:p>
          <a:p>
            <a:pPr>
              <a:spcAft>
                <a:spcPts val="1000"/>
              </a:spcAft>
              <a:defRPr sz="1500"/>
            </a:pPr>
            <a:r>
              <a:t>A: 调用 stop_training(task_id) 或直接删除任务</a:t>
            </a:r>
          </a:p>
          <a:p>
            <a:pPr>
              <a:spcAft>
                <a:spcPts val="1000"/>
              </a:spcAft>
              <a:defRPr sz="1800"/>
            </a:pPr>
            <a:r>
              <a:t>Q: 训练需要多长时间？</a:t>
            </a:r>
          </a:p>
          <a:p>
            <a:pPr>
              <a:spcAft>
                <a:spcPts val="1000"/>
              </a:spcAft>
              <a:defRPr sz="1500"/>
            </a:pPr>
            <a:r>
              <a:t>A: 根据数据集大小和 epochs，一般 10 分钟到几小时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15. 总结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核心要点：</a:t>
            </a:r>
          </a:p>
          <a:p>
            <a:pPr>
              <a:spcAft>
                <a:spcPts val="1000"/>
              </a:spcAft>
              <a:defRPr sz="1600"/>
            </a:pPr>
            <a:r>
              <a:t>  1. TrainingClient 是远程控制训练服务器的'遥控器'</a:t>
            </a:r>
          </a:p>
          <a:p>
            <a:pPr>
              <a:spcAft>
                <a:spcPts val="1000"/>
              </a:spcAft>
              <a:defRPr sz="1600"/>
            </a:pPr>
            <a:r>
              <a:t>  2. 3 步上手：创建 → 连接 → 使用</a:t>
            </a:r>
          </a:p>
          <a:p>
            <a:pPr>
              <a:spcAft>
                <a:spcPts val="1000"/>
              </a:spcAft>
              <a:defRPr sz="1600"/>
            </a:pPr>
            <a:r>
              <a:t>  3. 新手推荐用 InteractiveClient，有菜单提示</a:t>
            </a:r>
          </a:p>
          <a:p>
            <a:pPr>
              <a:spcAft>
                <a:spcPts val="1000"/>
              </a:spcAft>
              <a:defRPr sz="1600"/>
            </a:pPr>
            <a:r>
              <a:t>  4. 记得检查返回值，处理错误</a:t>
            </a:r>
          </a:p>
          <a:p>
            <a:pPr>
              <a:spcAft>
                <a:spcPts val="1000"/>
              </a:spcAft>
              <a:defRPr sz="2000"/>
            </a:pPr>
            <a:r>
              <a:t>下一步：</a:t>
            </a:r>
          </a:p>
          <a:p>
            <a:pPr>
              <a:spcAft>
                <a:spcPts val="1000"/>
              </a:spcAft>
              <a:defRPr sz="1600"/>
            </a:pPr>
            <a:r>
              <a:t>  • 运行 python training_client.py 体验</a:t>
            </a:r>
          </a:p>
          <a:p>
            <a:pPr>
              <a:spcAft>
                <a:spcPts val="1000"/>
              </a:spcAft>
              <a:defRPr sz="1600"/>
            </a:pPr>
            <a:r>
              <a:t>  • 参考测试代码：test_training_client.py</a:t>
            </a:r>
          </a:p>
          <a:p>
            <a:pPr>
              <a:spcAft>
                <a:spcPts val="1000"/>
              </a:spcAft>
              <a:defRPr sz="1600"/>
            </a:pPr>
            <a:r>
              <a:t>  • 查看服务器代码：model_training.py</a:t>
            </a:r>
          </a:p>
          <a:p>
            <a:pPr>
              <a:spcAft>
                <a:spcPts val="1000"/>
              </a:spcAft>
              <a:defRPr sz="1600"/>
            </a:pPr>
            <a:r>
              <a:t>祝你学习愉快！🚀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5067</Words>
  <Application>WPS 演示</Application>
  <PresentationFormat>On-screen Show (4:3)</PresentationFormat>
  <Paragraphs>370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25" baseType="lpstr">
      <vt:lpstr>Arial</vt:lpstr>
      <vt:lpstr>宋体</vt:lpstr>
      <vt:lpstr>Wingdings</vt:lpstr>
      <vt:lpstr>Arial</vt:lpstr>
      <vt:lpstr>微软雅黑</vt:lpstr>
      <vt:lpstr>Courier New</vt:lpstr>
      <vt:lpstr>Calibri</vt:lpstr>
      <vt:lpstr>Arial Unicode MS</vt:lpstr>
      <vt:lpstr>Office Theme</vt:lpstr>
      <vt:lpstr>TrainingClient 使用教程</vt:lpstr>
      <vt:lpstr>1. 这是什么？能做什么？</vt:lpstr>
      <vt:lpstr>2. 工作原理：其实很简单！</vt:lpstr>
      <vt:lpstr>3. 核心功能一览</vt:lpstr>
      <vt:lpstr>4. 快速开始：3 步上手</vt:lpstr>
      <vt:lpstr>5. 完整使用示例</vt:lpstr>
      <vt:lpstr>6. 更简单：使用 InteractiveClient</vt:lpstr>
      <vt:lpstr>7. create_task 参数详解</vt:lpstr>
      <vt:lpstr>8. 参数对训练的影响</vt:lpstr>
      <vt:lpstr>9. 如何监控训练进度？</vt:lpstr>
      <vt:lpstr>10. 错误处理（很重要！）</vt:lpstr>
      <vt:lpstr>11. 响应码说明</vt:lpstr>
      <vt:lpstr>12. 实战应用场景</vt:lpstr>
      <vt:lpstr>13. 调试技巧</vt:lpstr>
      <vt:lpstr>14. 常见问题 FAQ</vt:lpstr>
      <vt:lpstr>15. 总结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千册</cp:lastModifiedBy>
  <cp:revision>6</cp:revision>
  <dcterms:created xsi:type="dcterms:W3CDTF">2013-01-27T09:14:00Z</dcterms:created>
  <dcterms:modified xsi:type="dcterms:W3CDTF">2026-03-24T06:13:23Z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3842231448414C99B0F03D9531338F62_12</vt:lpwstr>
  </property>
</Properties>
</file>